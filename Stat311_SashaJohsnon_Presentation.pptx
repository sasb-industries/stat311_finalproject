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7" r:id="rId17"/>
    <p:sldId id="274" r:id="rId18"/>
    <p:sldId id="276" r:id="rId19"/>
    <p:sldId id="275" r:id="rId20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5" d="100"/>
          <a:sy n="165" d="100"/>
        </p:scale>
        <p:origin x="144" y="3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ab4a38e9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ab4a38e9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73a0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73a0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73a04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73a04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73a04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73a04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6f73a04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6f73a04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6f73a04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6f73a04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42E1DDCA-5A4A-1987-A594-41A5C17D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73a04f_0_14:notes">
            <a:extLst>
              <a:ext uri="{FF2B5EF4-FFF2-40B4-BE49-F238E27FC236}">
                <a16:creationId xmlns:a16="http://schemas.microsoft.com/office/drawing/2014/main" id="{8041535D-DD47-3B78-211F-7216358CB4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73a04f_0_14:notes">
            <a:extLst>
              <a:ext uri="{FF2B5EF4-FFF2-40B4-BE49-F238E27FC236}">
                <a16:creationId xmlns:a16="http://schemas.microsoft.com/office/drawing/2014/main" id="{B98F9E33-EEC7-B6B1-82F7-327BB4415A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753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6804E8DD-E9FD-5788-19D8-2B5F24ED2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73a04f_0_14:notes">
            <a:extLst>
              <a:ext uri="{FF2B5EF4-FFF2-40B4-BE49-F238E27FC236}">
                <a16:creationId xmlns:a16="http://schemas.microsoft.com/office/drawing/2014/main" id="{FA1AB8D4-CF78-5EBD-8790-B0B20010D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73a04f_0_14:notes">
            <a:extLst>
              <a:ext uri="{FF2B5EF4-FFF2-40B4-BE49-F238E27FC236}">
                <a16:creationId xmlns:a16="http://schemas.microsoft.com/office/drawing/2014/main" id="{9B457BE5-24F4-5011-912C-1A19A10F07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494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1A2A0D5E-E31E-FF19-3FAD-52F94F38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73a04f_0_14:notes">
            <a:extLst>
              <a:ext uri="{FF2B5EF4-FFF2-40B4-BE49-F238E27FC236}">
                <a16:creationId xmlns:a16="http://schemas.microsoft.com/office/drawing/2014/main" id="{01216C65-22AF-E5B0-8E23-991C07DC8F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73a04f_0_14:notes">
            <a:extLst>
              <a:ext uri="{FF2B5EF4-FFF2-40B4-BE49-F238E27FC236}">
                <a16:creationId xmlns:a16="http://schemas.microsoft.com/office/drawing/2014/main" id="{B5C508E3-BD6C-4EE8-C724-E7E4F0F16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4933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451BD288-65EA-5D6D-40F6-0280FF1A4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73a04f_0_5:notes">
            <a:extLst>
              <a:ext uri="{FF2B5EF4-FFF2-40B4-BE49-F238E27FC236}">
                <a16:creationId xmlns:a16="http://schemas.microsoft.com/office/drawing/2014/main" id="{EF79DED6-FE85-7534-7A54-2253CA0B7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73a04f_0_5:notes">
            <a:extLst>
              <a:ext uri="{FF2B5EF4-FFF2-40B4-BE49-F238E27FC236}">
                <a16:creationId xmlns:a16="http://schemas.microsoft.com/office/drawing/2014/main" id="{0626A6E0-8757-3DE2-7226-602B72CDF4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6523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86DFC4E9-A821-74FC-AF3D-F3DF8F8F2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73a04f_0_5:notes">
            <a:extLst>
              <a:ext uri="{FF2B5EF4-FFF2-40B4-BE49-F238E27FC236}">
                <a16:creationId xmlns:a16="http://schemas.microsoft.com/office/drawing/2014/main" id="{ACDCA8BB-F79A-5950-E67A-93F77B5FE6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73a04f_0_5:notes">
            <a:extLst>
              <a:ext uri="{FF2B5EF4-FFF2-40B4-BE49-F238E27FC236}">
                <a16:creationId xmlns:a16="http://schemas.microsoft.com/office/drawing/2014/main" id="{0440B882-FB6B-2839-4CED-4E3535FD4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9091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deairbnb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Airbnb Price Analysis</a:t>
            </a: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19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Sasha Johnson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Stat 311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Which listing characteristics, host attributes, and availability factors significantly affect the price of an AirBnB listing?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the point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Helps determine what drives pricing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Allows hosts to determine pricing strategy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Allows customers to make informed value decisions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471900" y="873100"/>
            <a:ext cx="8222100" cy="63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Inside Airbnb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https://insideairbnb.com/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Data on Denver, CO Airbnb listings</a:t>
            </a:r>
            <a:endParaRPr dirty="0"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Approx 4,900 listings (raw)</a:t>
            </a:r>
            <a:endParaRPr dirty="0"/>
          </a:p>
          <a:p>
            <a:pPr marL="914400" lvl="1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dirty="0"/>
              <a:t>4301 (clean)</a:t>
            </a:r>
            <a:endParaRPr dirty="0"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Observational data</a:t>
            </a: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Gathered Sep 30, 2025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Google Shape;97;p1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401850" y="170575"/>
                <a:ext cx="5652900" cy="48996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u="sng" dirty="0">
                    <a:solidFill>
                      <a:srgbClr val="000000"/>
                    </a:solidFill>
                  </a:rPr>
                  <a:t>Dependent Variables (DV, Response):</a:t>
                </a:r>
                <a:endParaRPr lang="en-US" dirty="0">
                  <a:solidFill>
                    <a:srgbClr val="000000"/>
                  </a:solidFill>
                </a:endParaRPr>
              </a:p>
              <a:p>
                <a:pPr lvl="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0000"/>
                    </a:solidFill>
                  </a:rPr>
                  <a:t>Price </a:t>
                </a:r>
                <a:r>
                  <a:rPr lang="en-US" dirty="0">
                    <a:solidFill>
                      <a:srgbClr val="000000"/>
                    </a:solidFill>
                  </a:rPr>
                  <a:t>- Listed in Dollars ($), Numeric</a:t>
                </a:r>
              </a:p>
              <a:p>
                <a:pPr lvl="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0000"/>
                    </a:solidFill>
                  </a:rPr>
                  <a:t>Log(Price)</a:t>
                </a:r>
                <a:r>
                  <a:rPr lang="en-US" dirty="0">
                    <a:solidFill>
                      <a:srgbClr val="000000"/>
                    </a:solidFill>
                  </a:rPr>
                  <a:t> - Logarithm of price (Used to address skewness and improve model fit, this will be addressed later), Numeric/transform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</a:rPr>
                  <a:t> 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u="sng" dirty="0">
                    <a:solidFill>
                      <a:srgbClr val="000000"/>
                    </a:solidFill>
                  </a:rPr>
                  <a:t>Independent Variables (IV, Predictors):</a:t>
                </a:r>
                <a:endParaRPr lang="en-US" dirty="0">
                  <a:solidFill>
                    <a:srgbClr val="0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rgbClr val="000000"/>
                    </a:solidFill>
                  </a:rPr>
                  <a:t>Property Characteristics (Numeric)</a:t>
                </a:r>
                <a:endParaRPr lang="en-US" dirty="0">
                  <a:solidFill>
                    <a:srgbClr val="0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ar-AE" b="1" dirty="0">
                    <a:solidFill>
                      <a:srgbClr val="000000"/>
                    </a:solidFill>
                  </a:rPr>
                  <a:t> = </a:t>
                </a:r>
                <a:r>
                  <a:rPr lang="en-US" b="1" dirty="0">
                    <a:solidFill>
                      <a:srgbClr val="000000"/>
                    </a:solidFill>
                  </a:rPr>
                  <a:t>Accommodates</a:t>
                </a:r>
                <a:r>
                  <a:rPr lang="en-US" dirty="0">
                    <a:solidFill>
                      <a:srgbClr val="000000"/>
                    </a:solidFill>
                  </a:rPr>
                  <a:t> - Number of guests the listing can accommodate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ar-AE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b="1" dirty="0">
                    <a:solidFill>
                      <a:srgbClr val="000000"/>
                    </a:solidFill>
                  </a:rPr>
                  <a:t>Bathrooms </a:t>
                </a:r>
                <a:r>
                  <a:rPr lang="en-US" dirty="0">
                    <a:solidFill>
                      <a:srgbClr val="000000"/>
                    </a:solidFill>
                  </a:rPr>
                  <a:t>- Number of Bathrooms in the listing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ar-AE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b="1" dirty="0">
                    <a:solidFill>
                      <a:srgbClr val="000000"/>
                    </a:solidFill>
                  </a:rPr>
                  <a:t>Extra_beds</a:t>
                </a:r>
                <a:r>
                  <a:rPr lang="en-US" b="1" baseline="30000" dirty="0">
                    <a:solidFill>
                      <a:srgbClr val="000000"/>
                    </a:solidFill>
                  </a:rPr>
                  <a:t>1</a:t>
                </a:r>
                <a:r>
                  <a:rPr lang="en-US" b="1" dirty="0">
                    <a:solidFill>
                      <a:srgbClr val="000000"/>
                    </a:solidFill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</a:rPr>
                  <a:t>- Difference in number of beds and bedrooms in a listing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ar-AE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b="1" dirty="0">
                    <a:solidFill>
                      <a:srgbClr val="000000"/>
                    </a:solidFill>
                  </a:rPr>
                  <a:t>Bedrooms </a:t>
                </a:r>
                <a:r>
                  <a:rPr lang="en-US" dirty="0">
                    <a:solidFill>
                      <a:srgbClr val="000000"/>
                    </a:solidFill>
                  </a:rPr>
                  <a:t>- Number of bedrooms in the listing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rgbClr val="000000"/>
                    </a:solidFill>
                  </a:rPr>
                  <a:t>Reviews (numerical)</a:t>
                </a:r>
                <a:endParaRPr lang="en-US" dirty="0">
                  <a:solidFill>
                    <a:srgbClr val="0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ar-AE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b="1" dirty="0" err="1">
                    <a:solidFill>
                      <a:srgbClr val="000000"/>
                    </a:solidFill>
                  </a:rPr>
                  <a:t>Reviews_per_month</a:t>
                </a:r>
                <a:r>
                  <a:rPr lang="en-US" b="1" dirty="0">
                    <a:solidFill>
                      <a:srgbClr val="000000"/>
                    </a:solidFill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</a:rPr>
                  <a:t>- Average number of reviews per month on a listing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ar-AE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b="1" dirty="0" err="1">
                    <a:solidFill>
                      <a:srgbClr val="000000"/>
                    </a:solidFill>
                  </a:rPr>
                  <a:t>Review_scores_rating</a:t>
                </a:r>
                <a:r>
                  <a:rPr lang="en-US" b="1" dirty="0">
                    <a:solidFill>
                      <a:srgbClr val="000000"/>
                    </a:solidFill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</a:rPr>
                  <a:t>- Overall review score given by guests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rgbClr val="000000"/>
                    </a:solidFill>
                  </a:rPr>
                  <a:t>Listing Attributes (categorical) – Using Dummy Variables</a:t>
                </a:r>
                <a:endParaRPr lang="en-US" dirty="0">
                  <a:solidFill>
                    <a:srgbClr val="0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  <m:r>
                      <a:rPr lang="ar-AE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b="1" dirty="0" err="1">
                    <a:solidFill>
                      <a:srgbClr val="000000"/>
                    </a:solidFill>
                  </a:rPr>
                  <a:t>Room_type</a:t>
                </a:r>
                <a:r>
                  <a:rPr lang="en-US" b="1" dirty="0">
                    <a:solidFill>
                      <a:srgbClr val="000000"/>
                    </a:solidFill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</a:rPr>
                  <a:t>- Type of listing (entire home/apt, private room, shared room, hotel room)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00"/>
                    </a:solidFill>
                  </a:rPr>
                  <a:t>	Baseline = entire home/apt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ar-AE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private</m:t>
                            </m:r>
                            <m: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room</m:t>
                            </m:r>
                          </m:e>
                          <m:e>
                            <m:r>
                              <a:rPr lang="ar-A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  <m:r>
                      <a:rPr lang="ar-AE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ar-AE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shared</m:t>
                            </m:r>
                            <m: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room</m:t>
                            </m:r>
                          </m:e>
                          <m:e>
                            <m:r>
                              <a:rPr lang="ar-A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r>
                  <a:rPr lang="ar-AE" dirty="0">
                    <a:solidFill>
                      <a:srgbClr val="000000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ar-AE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hotel</m:t>
                            </m:r>
                            <m: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room</m:t>
                            </m:r>
                          </m:e>
                          <m:e>
                            <m:r>
                              <a:rPr lang="ar-A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ar-AE" dirty="0">
                  <a:solidFill>
                    <a:srgbClr val="000000"/>
                  </a:solidFill>
                </a:endParaRPr>
              </a:p>
              <a:p>
                <a:pPr lvl="1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 panose="020B0604020202020204" pitchFamily="34" charset="0"/>
                  <a:buChar char="•"/>
                </a:pPr>
                <a:endParaRPr lang="ar-AE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7" name="Google Shape;97;p1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01850" y="170575"/>
                <a:ext cx="5652900" cy="4899600"/>
              </a:xfrm>
              <a:prstGeom prst="rect">
                <a:avLst/>
              </a:prstGeom>
              <a:blipFill>
                <a:blip r:embed="rId3"/>
                <a:stretch>
                  <a:fillRect b="-20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124922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EDA</a:t>
            </a:r>
            <a:endParaRPr dirty="0"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Exploratory Data Analysis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265499" y="925975"/>
            <a:ext cx="4045200" cy="77092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Response Variable</a:t>
            </a:r>
            <a:endParaRPr sz="3600" dirty="0"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1"/>
          </p:nvPr>
        </p:nvSpPr>
        <p:spPr>
          <a:xfrm>
            <a:off x="265499" y="1696902"/>
            <a:ext cx="4045200" cy="31352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Price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sz="1600" dirty="0"/>
              <a:t>Not symmetric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sz="1600" dirty="0"/>
              <a:t>Heavy right skew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sz="1600" dirty="0"/>
              <a:t>Lots of lower priced listings with few very expensive ones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sz="1600" dirty="0"/>
              <a:t>Log(price)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sz="1600" dirty="0"/>
              <a:t>More symmetric (normal)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sz="1600" dirty="0"/>
              <a:t>Skew addressed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sz="1600" dirty="0"/>
              <a:t>Outliers less apparent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sz="1600" dirty="0"/>
          </a:p>
        </p:txBody>
      </p:sp>
      <p:pic>
        <p:nvPicPr>
          <p:cNvPr id="2" name="image4.png">
            <a:extLst>
              <a:ext uri="{FF2B5EF4-FFF2-40B4-BE49-F238E27FC236}">
                <a16:creationId xmlns:a16="http://schemas.microsoft.com/office/drawing/2014/main" id="{06A785D5-E20D-1D62-5E28-604ACA716AC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833302" y="598843"/>
            <a:ext cx="4158777" cy="423326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8EA508E-7AF1-4B53-7CD6-80A343EF0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>
            <a:extLst>
              <a:ext uri="{FF2B5EF4-FFF2-40B4-BE49-F238E27FC236}">
                <a16:creationId xmlns:a16="http://schemas.microsoft.com/office/drawing/2014/main" id="{56AFD8FF-FFD9-0315-8521-C3AB3E9FB1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1900" y="873100"/>
            <a:ext cx="8222100" cy="63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 of IV’s</a:t>
            </a:r>
            <a:endParaRPr dirty="0"/>
          </a:p>
        </p:txBody>
      </p:sp>
      <p:sp>
        <p:nvSpPr>
          <p:cNvPr id="91" name="Google Shape;91;p17">
            <a:extLst>
              <a:ext uri="{FF2B5EF4-FFF2-40B4-BE49-F238E27FC236}">
                <a16:creationId xmlns:a16="http://schemas.microsoft.com/office/drawing/2014/main" id="{70A015A8-115F-A090-CB11-09EADCD08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endParaRPr dirty="0"/>
          </a:p>
        </p:txBody>
      </p:sp>
      <p:pic>
        <p:nvPicPr>
          <p:cNvPr id="2" name="image2.png">
            <a:extLst>
              <a:ext uri="{FF2B5EF4-FFF2-40B4-BE49-F238E27FC236}">
                <a16:creationId xmlns:a16="http://schemas.microsoft.com/office/drawing/2014/main" id="{D486284E-D70D-F46D-5C07-898DA8378D2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988004" y="1709141"/>
            <a:ext cx="7167991" cy="338488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185400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7620CA1-A819-09CC-F2D7-F1D93ECF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>
            <a:extLst>
              <a:ext uri="{FF2B5EF4-FFF2-40B4-BE49-F238E27FC236}">
                <a16:creationId xmlns:a16="http://schemas.microsoft.com/office/drawing/2014/main" id="{B99C49EB-D608-BB31-55C4-DBBD865FAE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1900" y="873100"/>
            <a:ext cx="8222100" cy="63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Price Vs</a:t>
            </a:r>
            <a:endParaRPr dirty="0"/>
          </a:p>
        </p:txBody>
      </p:sp>
      <p:sp>
        <p:nvSpPr>
          <p:cNvPr id="91" name="Google Shape;91;p17">
            <a:extLst>
              <a:ext uri="{FF2B5EF4-FFF2-40B4-BE49-F238E27FC236}">
                <a16:creationId xmlns:a16="http://schemas.microsoft.com/office/drawing/2014/main" id="{9A3F37C9-E0CF-34B5-1B7E-DC1A528571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endParaRPr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995D7689-C672-DA61-9638-B231C873811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28884" y="1840006"/>
            <a:ext cx="7685831" cy="304888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5117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433F340-BB65-423E-3913-8B82F2AB7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>
            <a:extLst>
              <a:ext uri="{FF2B5EF4-FFF2-40B4-BE49-F238E27FC236}">
                <a16:creationId xmlns:a16="http://schemas.microsoft.com/office/drawing/2014/main" id="{55E9F8DF-DDC7-68A6-FEB0-38FEDECDDA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1900" y="873100"/>
            <a:ext cx="8222100" cy="63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Price Vs Cont</a:t>
            </a:r>
            <a:endParaRPr dirty="0"/>
          </a:p>
        </p:txBody>
      </p:sp>
      <p:sp>
        <p:nvSpPr>
          <p:cNvPr id="91" name="Google Shape;91;p17">
            <a:extLst>
              <a:ext uri="{FF2B5EF4-FFF2-40B4-BE49-F238E27FC236}">
                <a16:creationId xmlns:a16="http://schemas.microsoft.com/office/drawing/2014/main" id="{D2AFBDD3-94C4-EFEF-8E3C-F7CC6C31B3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Entire Home/apt most common listing</a:t>
            </a: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Entire Home/apt most variation and highest prices</a:t>
            </a: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Shared room low variation (low n) and lower prices (intuition)</a:t>
            </a:r>
            <a:endParaRPr dirty="0"/>
          </a:p>
        </p:txBody>
      </p:sp>
      <p:pic>
        <p:nvPicPr>
          <p:cNvPr id="2" name="image3.png">
            <a:extLst>
              <a:ext uri="{FF2B5EF4-FFF2-40B4-BE49-F238E27FC236}">
                <a16:creationId xmlns:a16="http://schemas.microsoft.com/office/drawing/2014/main" id="{A9ABDB13-B3AF-4268-056B-5B7ACFD995E4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72202" y="1700239"/>
            <a:ext cx="4352264" cy="339696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31761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3621CCB2-2245-1FD1-6D8C-A3EE33F8E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C4FE75BD-D51A-6934-0C83-FA5FD340F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66BD50-1BB9-D4EE-FCEA-928EEBC71703}"/>
              </a:ext>
            </a:extLst>
          </p:cNvPr>
          <p:cNvSpPr txBox="1"/>
          <p:nvPr/>
        </p:nvSpPr>
        <p:spPr>
          <a:xfrm>
            <a:off x="460950" y="2924261"/>
            <a:ext cx="2251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And modeling strategies</a:t>
            </a:r>
          </a:p>
        </p:txBody>
      </p:sp>
    </p:spTree>
    <p:extLst>
      <p:ext uri="{BB962C8B-B14F-4D97-AF65-F5344CB8AC3E}">
        <p14:creationId xmlns:p14="http://schemas.microsoft.com/office/powerpoint/2010/main" val="613063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BC2DC-ACB7-4B0B-BEFD-9A04CE83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Strategy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EB86E-4BFE-03E4-A75D-31877B2B3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1 </a:t>
            </a:r>
            <a:r>
              <a:rPr lang="en-US" dirty="0">
                <a:sym typeface="Wingdings" panose="05000000000000000000" pitchFamily="2" charset="2"/>
              </a:rPr>
              <a:t> full model based on raw price</a:t>
            </a:r>
          </a:p>
          <a:p>
            <a:r>
              <a:rPr lang="en-US" dirty="0">
                <a:sym typeface="Wingdings" panose="05000000000000000000" pitchFamily="2" charset="2"/>
              </a:rPr>
              <a:t>Model 2  simplified and improvement </a:t>
            </a:r>
          </a:p>
          <a:p>
            <a:r>
              <a:rPr lang="en-US" dirty="0">
                <a:sym typeface="Wingdings" panose="05000000000000000000" pitchFamily="2" charset="2"/>
              </a:rPr>
              <a:t>Model 3  Full model based on log(price)</a:t>
            </a:r>
          </a:p>
          <a:p>
            <a:r>
              <a:rPr lang="en-US" dirty="0">
                <a:sym typeface="Wingdings" panose="05000000000000000000" pitchFamily="2" charset="2"/>
              </a:rPr>
              <a:t>Model 4  simplified and improvement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5960CD-38E8-4B05-B4B4-F745ADF5D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771134"/>
              </p:ext>
            </p:extLst>
          </p:nvPr>
        </p:nvGraphicFramePr>
        <p:xfrm>
          <a:off x="1990090" y="3652325"/>
          <a:ext cx="5163820" cy="9769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2625">
                  <a:extLst>
                    <a:ext uri="{9D8B030D-6E8A-4147-A177-3AD203B41FA5}">
                      <a16:colId xmlns:a16="http://schemas.microsoft.com/office/drawing/2014/main" val="887346418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4129718004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175587836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18490856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189867897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320299460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38156827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483149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Model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Response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Predictors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R²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Adj R²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RMSE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F-stat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Prob &gt; F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1928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Model 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Price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0.3005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0.299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141.78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179.08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&lt;0.0001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1321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Model 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Price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0.2869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0.2857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141.69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246.29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&lt;0.0001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4381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Model 3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Log(Price)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0.5184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0.5173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0.4374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448.78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&lt;0.0001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5569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Model 4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Log(Price)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0.5184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0.5174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0.4373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>
                          <a:effectLst/>
                        </a:rPr>
                        <a:t>505.00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&lt;0.0001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354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355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6260F-8465-F4CE-0FFB-D9C29E560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3F5E095-964A-AD41-4824-A3E0BC5CDCF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Best metrics across the board</a:t>
                </a:r>
              </a:p>
              <a:p>
                <a:r>
                  <a:rPr lang="en-US" dirty="0"/>
                  <a:t>Explained about 51.8% of the variance seen in log(price)</a:t>
                </a:r>
              </a:p>
              <a:p>
                <a:r>
                  <a:rPr lang="en-US" dirty="0"/>
                  <a:t>Adj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almost same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Regression model assumptions were improved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3F5E095-964A-AD41-4824-A3E0BC5CDC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C96120-9D08-ABDA-EFE4-8AF1F20183CD}"/>
                  </a:ext>
                </a:extLst>
              </p:cNvPr>
              <p:cNvSpPr txBox="1"/>
              <p:nvPr/>
            </p:nvSpPr>
            <p:spPr>
              <a:xfrm>
                <a:off x="3420319" y="80801"/>
                <a:ext cx="56368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1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1200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C96120-9D08-ABDA-EFE4-8AF1F2018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319" y="80801"/>
                <a:ext cx="5636871" cy="276999"/>
              </a:xfrm>
              <a:prstGeom prst="rect">
                <a:avLst/>
              </a:prstGeom>
              <a:blipFill>
                <a:blip r:embed="rId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C1A8F6-9435-3C91-66FB-906D018C69D1}"/>
                  </a:ext>
                </a:extLst>
              </p:cNvPr>
              <p:cNvSpPr txBox="1"/>
              <p:nvPr/>
            </p:nvSpPr>
            <p:spPr>
              <a:xfrm>
                <a:off x="3420319" y="417091"/>
                <a:ext cx="563687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 </m:t>
                      </m:r>
                      <m:sSub>
                        <m:sSubPr>
                          <m:ctrlP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𝑒𝑟𝑒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12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𝑙𝑒𝑎𝑠𝑡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𝑜𝑛𝑒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≠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𝑒𝑟𝑒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12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C1A8F6-9435-3C91-66FB-906D018C6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319" y="417091"/>
                <a:ext cx="563687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The image displays a table from an Analysis of Variance (ANOVA) summary, detailing the sources of variance, degrees of freedom (DF), sum of squares, mean square, F ratio, and the probability values for each source.&#10;&#10;AI-generated content may be incorrect.">
            <a:extLst>
              <a:ext uri="{FF2B5EF4-FFF2-40B4-BE49-F238E27FC236}">
                <a16:creationId xmlns:a16="http://schemas.microsoft.com/office/drawing/2014/main" id="{B4721156-A443-655B-6212-59701469F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048" y="1122713"/>
            <a:ext cx="2704876" cy="970995"/>
          </a:xfrm>
          <a:prstGeom prst="rect">
            <a:avLst/>
          </a:prstGeom>
        </p:spPr>
      </p:pic>
      <p:pic>
        <p:nvPicPr>
          <p:cNvPr id="9" name="Picture 8" descr="The image displays a summary of a statistical model's fit, including R Square, Adjusted R Square, Root Mean Square Error, Mean of Response, and the number of observations.&#10;&#10;AI-generated content may be incorrect.">
            <a:extLst>
              <a:ext uri="{FF2B5EF4-FFF2-40B4-BE49-F238E27FC236}">
                <a16:creationId xmlns:a16="http://schemas.microsoft.com/office/drawing/2014/main" id="{BE330EA4-EF73-FCB6-EDC8-541F5C313A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894" y="1122713"/>
            <a:ext cx="2476500" cy="1169670"/>
          </a:xfrm>
          <a:prstGeom prst="rect">
            <a:avLst/>
          </a:prstGeom>
        </p:spPr>
      </p:pic>
      <p:pic>
        <p:nvPicPr>
          <p:cNvPr id="10" name="Picture 9" descr="The image displays a table with estimates, standard errors, t-ratios, probabilities, and confidence intervals for various factors influencing accommodation pricing, such as room type and amenities.&#10;&#10;AI-generated content may be incorrect.">
            <a:extLst>
              <a:ext uri="{FF2B5EF4-FFF2-40B4-BE49-F238E27FC236}">
                <a16:creationId xmlns:a16="http://schemas.microsoft.com/office/drawing/2014/main" id="{2ACB76D4-A467-B226-445C-95E97B7A80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5048" y="2567693"/>
            <a:ext cx="5552346" cy="195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51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9874FE0F-141D-0F77-E90A-A357C4C50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551E44-2DA7-9644-895F-F29F3E1FF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08" y="56943"/>
            <a:ext cx="8222100" cy="1939689"/>
          </a:xfrm>
        </p:spPr>
        <p:txBody>
          <a:bodyPr/>
          <a:lstStyle/>
          <a:p>
            <a:r>
              <a:rPr lang="en-US" sz="2800" u="sng" dirty="0"/>
              <a:t>Residuals improved</a:t>
            </a:r>
            <a:br>
              <a:rPr lang="en-US" sz="2800" dirty="0"/>
            </a:br>
            <a:r>
              <a:rPr lang="en-US" sz="1600" dirty="0"/>
              <a:t>- Residual normality improved</a:t>
            </a:r>
            <a:br>
              <a:rPr lang="en-US" sz="1600" dirty="0"/>
            </a:br>
            <a:r>
              <a:rPr lang="en-US" sz="1600" dirty="0"/>
              <a:t>- Residual vs predicted funnel shape fixed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5" name="Picture 4" descr="The diagram illustrates a log-price versus residual plot, with residuals on the y-axis and normal quantiles on the x-axis, showing how the residuals deviate from the normal distribution.&#10;&#10;AI-generated content may be incorrect.">
            <a:extLst>
              <a:ext uri="{FF2B5EF4-FFF2-40B4-BE49-F238E27FC236}">
                <a16:creationId xmlns:a16="http://schemas.microsoft.com/office/drawing/2014/main" id="{14E39E09-3DA8-6B9E-A65E-4634F2063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151" y="2383453"/>
            <a:ext cx="3170652" cy="2703103"/>
          </a:xfrm>
          <a:prstGeom prst="rect">
            <a:avLst/>
          </a:prstGeom>
        </p:spPr>
      </p:pic>
      <p:pic>
        <p:nvPicPr>
          <p:cNvPr id="6" name="Picture 5" descr="The diagram depicts a residual log price chart, showing a downward trend with negative residuals from -3 to -1.&#10;&#10;AI-generated content may be incorrect.">
            <a:extLst>
              <a:ext uri="{FF2B5EF4-FFF2-40B4-BE49-F238E27FC236}">
                <a16:creationId xmlns:a16="http://schemas.microsoft.com/office/drawing/2014/main" id="{689D0C9A-695E-7EA1-2D6B-7FB9EE8EB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7" y="2383453"/>
            <a:ext cx="1942079" cy="2703103"/>
          </a:xfrm>
          <a:prstGeom prst="rect">
            <a:avLst/>
          </a:prstGeom>
        </p:spPr>
      </p:pic>
      <p:pic>
        <p:nvPicPr>
          <p:cNvPr id="7" name="Picture 6" descr="The diagram depicts a scatter plot comparing predicted log prices to actual log prices, showing residuals for each data point.&#10;&#10;AI-generated content may be incorrect.">
            <a:extLst>
              <a:ext uri="{FF2B5EF4-FFF2-40B4-BE49-F238E27FC236}">
                <a16:creationId xmlns:a16="http://schemas.microsoft.com/office/drawing/2014/main" id="{83C5B1D7-BA69-C50C-9EC0-A8D5DF4B4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8020" y="2383453"/>
            <a:ext cx="3839386" cy="270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920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665E7-A671-EC5B-E39C-7D5235A22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log(price)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CC69843-9248-16EE-865C-3D49F7BCE4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Coefficients are now percentage changes, not dollar changes</a:t>
                </a:r>
              </a:p>
              <a:p>
                <a:r>
                  <a:rPr lang="en-US" dirty="0"/>
                  <a:t>A one-unit increase in bedrooms is associated with approximately 11.6% increase in price, holding other variables constant.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𝑝𝑟𝑖𝑐𝑒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𝑝𝑟𝑖𝑐𝑒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acc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Example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𝑃𝑟𝑒𝑑𝑖𝑐𝑡𝑒𝑑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𝑝𝑟𝑖𝑐𝑒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𝑃𝑟𝑒𝑑𝑖𝑐𝑡𝑒𝑑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CC69843-9248-16EE-865C-3D49F7BCE4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1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6116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67265-2545-EEDA-433D-E3B4FC35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36991-2980-CF70-291D-547749132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Listing size drives price</a:t>
            </a:r>
          </a:p>
          <a:p>
            <a:pPr lvl="1"/>
            <a:r>
              <a:rPr lang="en-US" dirty="0"/>
              <a:t>Accommodates, Bathrooms, bedrooms, extra beds</a:t>
            </a:r>
          </a:p>
          <a:p>
            <a:r>
              <a:rPr lang="en-US" dirty="0"/>
              <a:t>Room Type matters</a:t>
            </a:r>
          </a:p>
          <a:p>
            <a:r>
              <a:rPr lang="en-US" dirty="0"/>
              <a:t>Reviews Matter</a:t>
            </a:r>
          </a:p>
          <a:p>
            <a:r>
              <a:rPr lang="en-US" dirty="0"/>
              <a:t>Log model works best</a:t>
            </a:r>
          </a:p>
        </p:txBody>
      </p:sp>
    </p:spTree>
    <p:extLst>
      <p:ext uri="{BB962C8B-B14F-4D97-AF65-F5344CB8AC3E}">
        <p14:creationId xmlns:p14="http://schemas.microsoft.com/office/powerpoint/2010/main" val="1568647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4742-D4E2-F55D-1959-CA51EAC2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21F21-2B3E-91AA-3356-D1C48B835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valid for Denver, CO</a:t>
            </a:r>
          </a:p>
          <a:p>
            <a:r>
              <a:rPr lang="en-US" dirty="0"/>
              <a:t>Not comparing seasonal changes</a:t>
            </a:r>
          </a:p>
          <a:p>
            <a:r>
              <a:rPr lang="en-US" dirty="0"/>
              <a:t>Observational Data</a:t>
            </a:r>
          </a:p>
          <a:p>
            <a:r>
              <a:rPr lang="en-US" dirty="0"/>
              <a:t>Influential Outliers</a:t>
            </a:r>
          </a:p>
        </p:txBody>
      </p:sp>
    </p:spTree>
    <p:extLst>
      <p:ext uri="{BB962C8B-B14F-4D97-AF65-F5344CB8AC3E}">
        <p14:creationId xmlns:p14="http://schemas.microsoft.com/office/powerpoint/2010/main" val="579617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D78E-EA8B-37D5-8039-3380EB21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2474279227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631</Words>
  <Application>Microsoft Office PowerPoint</Application>
  <PresentationFormat>On-screen Show (16:9)</PresentationFormat>
  <Paragraphs>128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Roboto</vt:lpstr>
      <vt:lpstr>Arial</vt:lpstr>
      <vt:lpstr>Wingdings</vt:lpstr>
      <vt:lpstr>Cambria Math</vt:lpstr>
      <vt:lpstr>Material</vt:lpstr>
      <vt:lpstr>Airbnb Price Analysis</vt:lpstr>
      <vt:lpstr>Research Question</vt:lpstr>
      <vt:lpstr>What’s the point</vt:lpstr>
      <vt:lpstr>Dataset</vt:lpstr>
      <vt:lpstr>Inside Airbnb - https://insideairbnb.com/</vt:lpstr>
      <vt:lpstr>Variables</vt:lpstr>
      <vt:lpstr>EDA</vt:lpstr>
      <vt:lpstr>Response Variable</vt:lpstr>
      <vt:lpstr>Summary of IV’s</vt:lpstr>
      <vt:lpstr>Price Vs</vt:lpstr>
      <vt:lpstr>Price Vs Cont</vt:lpstr>
      <vt:lpstr>Models</vt:lpstr>
      <vt:lpstr>Model Strategy</vt:lpstr>
      <vt:lpstr>Model 4</vt:lpstr>
      <vt:lpstr>Residuals improved - Residual normality improved - Residual vs predicted funnel shape fixed </vt:lpstr>
      <vt:lpstr>Interpreting log(price)</vt:lpstr>
      <vt:lpstr>Conclusion</vt:lpstr>
      <vt:lpstr>Limitations</vt:lpstr>
      <vt:lpstr>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Sasha Johnson</cp:lastModifiedBy>
  <cp:revision>4</cp:revision>
  <dcterms:modified xsi:type="dcterms:W3CDTF">2026-04-29T22:25:37Z</dcterms:modified>
</cp:coreProperties>
</file>